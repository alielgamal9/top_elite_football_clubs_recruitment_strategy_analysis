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4" r:id="rId1"/>
  </p:sldMasterIdLst>
  <p:notesMasterIdLst>
    <p:notesMasterId r:id="rId13"/>
  </p:notesMasterIdLst>
  <p:sldIdLst>
    <p:sldId id="268" r:id="rId2"/>
    <p:sldId id="257" r:id="rId3"/>
    <p:sldId id="258" r:id="rId4"/>
    <p:sldId id="256" r:id="rId5"/>
    <p:sldId id="259" r:id="rId6"/>
    <p:sldId id="260" r:id="rId7"/>
    <p:sldId id="261" r:id="rId8"/>
    <p:sldId id="262"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569CE5-B04B-44E3-BF0E-31AE9FE464E5}" type="datetimeFigureOut">
              <a:rPr lang="en-US" smtClean="0"/>
              <a:t>5/4/2025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BF2FED-4BFE-4D55-87CD-B0381BC1AC3A}" type="slidenum">
              <a:rPr lang="en-US" smtClean="0"/>
              <a:t>‹#›</a:t>
            </a:fld>
            <a:endParaRPr lang="en-US"/>
          </a:p>
        </p:txBody>
      </p:sp>
    </p:spTree>
    <p:extLst>
      <p:ext uri="{BB962C8B-B14F-4D97-AF65-F5344CB8AC3E}">
        <p14:creationId xmlns:p14="http://schemas.microsoft.com/office/powerpoint/2010/main" val="539099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BF2FED-4BFE-4D55-87CD-B0381BC1AC3A}" type="slidenum">
              <a:rPr lang="en-US" smtClean="0"/>
              <a:t>6</a:t>
            </a:fld>
            <a:endParaRPr lang="en-US"/>
          </a:p>
        </p:txBody>
      </p:sp>
    </p:spTree>
    <p:extLst>
      <p:ext uri="{BB962C8B-B14F-4D97-AF65-F5344CB8AC3E}">
        <p14:creationId xmlns:p14="http://schemas.microsoft.com/office/powerpoint/2010/main" val="1000187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15916C-0806-4895-AEC2-3C34805D2687}"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1283925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B15916C-0806-4895-AEC2-3C34805D2687}"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1815486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15916C-0806-4895-AEC2-3C34805D2687}"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3150883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15916C-0806-4895-AEC2-3C34805D2687}"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3859598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15916C-0806-4895-AEC2-3C34805D2687}" type="datetimeFigureOut">
              <a:rPr lang="en-US" smtClean="0"/>
              <a:t>5/4/2025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194807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B15916C-0806-4895-AEC2-3C34805D2687}" type="datetimeFigureOut">
              <a:rPr lang="en-US" smtClean="0"/>
              <a:t>5/4/2025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2577105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B15916C-0806-4895-AEC2-3C34805D2687}" type="datetimeFigureOut">
              <a:rPr lang="en-US" smtClean="0"/>
              <a:t>5/4/2025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2169692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B15916C-0806-4895-AEC2-3C34805D2687}" type="datetimeFigureOut">
              <a:rPr lang="en-US" smtClean="0"/>
              <a:t>5/4/2025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2595971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15916C-0806-4895-AEC2-3C34805D2687}"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4227714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15916C-0806-4895-AEC2-3C34805D2687}"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1444360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B15916C-0806-4895-AEC2-3C34805D2687}"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482938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B15916C-0806-4895-AEC2-3C34805D2687}"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567C18-F2B3-4C2B-8CDC-5220339078E7}"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4581679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15916C-0806-4895-AEC2-3C34805D2687}"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34037215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B15916C-0806-4895-AEC2-3C34805D2687}" type="datetimeFigureOut">
              <a:rPr lang="en-US" smtClean="0"/>
              <a:t>5/4/2025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3248989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B15916C-0806-4895-AEC2-3C34805D2687}" type="datetimeFigureOut">
              <a:rPr lang="en-US" smtClean="0"/>
              <a:t>5/4/2025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25463909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15916C-0806-4895-AEC2-3C34805D2687}"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2134270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15916C-0806-4895-AEC2-3C34805D2687}"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567C18-F2B3-4C2B-8CDC-5220339078E7}" type="slidenum">
              <a:rPr lang="en-US" smtClean="0"/>
              <a:t>‹#›</a:t>
            </a:fld>
            <a:endParaRPr lang="en-US"/>
          </a:p>
        </p:txBody>
      </p:sp>
    </p:spTree>
    <p:extLst>
      <p:ext uri="{BB962C8B-B14F-4D97-AF65-F5344CB8AC3E}">
        <p14:creationId xmlns:p14="http://schemas.microsoft.com/office/powerpoint/2010/main" val="3912852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B15916C-0806-4895-AEC2-3C34805D2687}" type="datetimeFigureOut">
              <a:rPr lang="en-US" smtClean="0"/>
              <a:t>5/4/2025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4567C18-F2B3-4C2B-8CDC-5220339078E7}" type="slidenum">
              <a:rPr lang="en-US" smtClean="0"/>
              <a:t>‹#›</a:t>
            </a:fld>
            <a:endParaRPr lang="en-US"/>
          </a:p>
        </p:txBody>
      </p:sp>
    </p:spTree>
    <p:extLst>
      <p:ext uri="{BB962C8B-B14F-4D97-AF65-F5344CB8AC3E}">
        <p14:creationId xmlns:p14="http://schemas.microsoft.com/office/powerpoint/2010/main" val="3451763374"/>
      </p:ext>
    </p:extLst>
  </p:cSld>
  <p:clrMap bg1="dk1" tx1="lt1" bg2="dk2" tx2="lt2" accent1="accent1" accent2="accent2" accent3="accent3" accent4="accent4" accent5="accent5" accent6="accent6" hlink="hlink" folHlink="folHlink"/>
  <p:sldLayoutIdLst>
    <p:sldLayoutId id="2147484145" r:id="rId1"/>
    <p:sldLayoutId id="2147484146" r:id="rId2"/>
    <p:sldLayoutId id="2147484147" r:id="rId3"/>
    <p:sldLayoutId id="2147484148" r:id="rId4"/>
    <p:sldLayoutId id="2147484149" r:id="rId5"/>
    <p:sldLayoutId id="2147484150" r:id="rId6"/>
    <p:sldLayoutId id="2147484151" r:id="rId7"/>
    <p:sldLayoutId id="2147484152" r:id="rId8"/>
    <p:sldLayoutId id="2147484153" r:id="rId9"/>
    <p:sldLayoutId id="2147484154" r:id="rId10"/>
    <p:sldLayoutId id="2147484155" r:id="rId11"/>
    <p:sldLayoutId id="2147484156" r:id="rId12"/>
    <p:sldLayoutId id="2147484157" r:id="rId13"/>
    <p:sldLayoutId id="2147484158" r:id="rId14"/>
    <p:sldLayoutId id="2147484159" r:id="rId15"/>
    <p:sldLayoutId id="2147484160" r:id="rId16"/>
    <p:sldLayoutId id="214748416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large trophy in a stadium with people around it&#10;&#10;AI-generated content may be incorrect.">
            <a:extLst>
              <a:ext uri="{FF2B5EF4-FFF2-40B4-BE49-F238E27FC236}">
                <a16:creationId xmlns:a16="http://schemas.microsoft.com/office/drawing/2014/main" id="{D85F83B7-B4C2-2055-693F-64A2EC9174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0091" y="0"/>
            <a:ext cx="9144000" cy="6858000"/>
          </a:xfrm>
          <a:prstGeom prst="rect">
            <a:avLst/>
          </a:prstGeom>
        </p:spPr>
      </p:pic>
    </p:spTree>
    <p:extLst>
      <p:ext uri="{BB962C8B-B14F-4D97-AF65-F5344CB8AC3E}">
        <p14:creationId xmlns:p14="http://schemas.microsoft.com/office/powerpoint/2010/main" val="2009435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282345-4A95-EFD2-5CC7-68BEC5165179}"/>
              </a:ext>
            </a:extLst>
          </p:cNvPr>
          <p:cNvSpPr txBox="1"/>
          <p:nvPr/>
        </p:nvSpPr>
        <p:spPr>
          <a:xfrm>
            <a:off x="457200" y="365760"/>
            <a:ext cx="7650178"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Top Elite Football Clubs Recruitment Strategy </a:t>
            </a:r>
          </a:p>
        </p:txBody>
      </p:sp>
      <p:sp>
        <p:nvSpPr>
          <p:cNvPr id="5" name="TextBox 4">
            <a:extLst>
              <a:ext uri="{FF2B5EF4-FFF2-40B4-BE49-F238E27FC236}">
                <a16:creationId xmlns:a16="http://schemas.microsoft.com/office/drawing/2014/main" id="{801291B4-FEFA-AEDA-34B4-16284AD438B8}"/>
              </a:ext>
            </a:extLst>
          </p:cNvPr>
          <p:cNvSpPr txBox="1"/>
          <p:nvPr/>
        </p:nvSpPr>
        <p:spPr>
          <a:xfrm>
            <a:off x="679009" y="1072185"/>
            <a:ext cx="7206559" cy="512448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Football clubs are the heartbeat of the beautiful game, uniting talented players, devoted fans, and innovative strategies from across the world. They’re more than teams—they’re global communities that inspire millions, compete in thrilling leagues, and drive the sport forward through their unique approaches to building squads and chasing glory</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Player recruitment isn’t just about talent—it’s a strategic game that shapes a club’s identity, success, and legacy.</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Discovering the strategies behind player recruitment hunting, the player profiles targeted. By revealing the hidden patterns that define five of the world's top football clubs Real Madrid, Barcelona, Juventus, Arsenal, and Liverpool.</a:t>
            </a:r>
          </a:p>
          <a:p>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Get ready to explore what makes each club exceptional, and which type of players they hunted.</a:t>
            </a:r>
          </a:p>
          <a:p>
            <a:endParaRPr lang="en-US" sz="19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Note: The data collected in 2019</a:t>
            </a:r>
          </a:p>
        </p:txBody>
      </p:sp>
    </p:spTree>
    <p:extLst>
      <p:ext uri="{BB962C8B-B14F-4D97-AF65-F5344CB8AC3E}">
        <p14:creationId xmlns:p14="http://schemas.microsoft.com/office/powerpoint/2010/main" val="2899586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numbers and a number of players">
            <a:extLst>
              <a:ext uri="{FF2B5EF4-FFF2-40B4-BE49-F238E27FC236}">
                <a16:creationId xmlns:a16="http://schemas.microsoft.com/office/drawing/2014/main" id="{E94BD28C-0FB1-6DDB-907D-B9E9EA8AF2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987199"/>
            <a:ext cx="8145012" cy="4079662"/>
          </a:xfrm>
          <a:prstGeom prst="rect">
            <a:avLst/>
          </a:prstGeom>
        </p:spPr>
      </p:pic>
      <p:sp>
        <p:nvSpPr>
          <p:cNvPr id="6" name="TextBox 5">
            <a:extLst>
              <a:ext uri="{FF2B5EF4-FFF2-40B4-BE49-F238E27FC236}">
                <a16:creationId xmlns:a16="http://schemas.microsoft.com/office/drawing/2014/main" id="{46DC0616-8AC2-33E8-E5E9-317CF3992957}"/>
              </a:ext>
            </a:extLst>
          </p:cNvPr>
          <p:cNvSpPr txBox="1"/>
          <p:nvPr/>
        </p:nvSpPr>
        <p:spPr>
          <a:xfrm>
            <a:off x="457200" y="365760"/>
            <a:ext cx="3735895" cy="461665"/>
          </a:xfrm>
          <a:prstGeom prst="rect">
            <a:avLst/>
          </a:prstGeom>
          <a:noFill/>
        </p:spPr>
        <p:txBody>
          <a:bodyPr wrap="none" rtlCol="0">
            <a:spAutoFit/>
          </a:bodyPr>
          <a:lstStyle/>
          <a:p>
            <a:r>
              <a:rPr lang="en-US" sz="2400" b="1" u="sng" dirty="0">
                <a:latin typeface="Times New Roman" panose="02020603050405020304" pitchFamily="18" charset="0"/>
                <a:cs typeface="Times New Roman" panose="02020603050405020304" pitchFamily="18" charset="0"/>
              </a:rPr>
              <a:t>Team Size: Getting Started</a:t>
            </a:r>
          </a:p>
        </p:txBody>
      </p:sp>
      <p:sp>
        <p:nvSpPr>
          <p:cNvPr id="7" name="TextBox 6">
            <a:extLst>
              <a:ext uri="{FF2B5EF4-FFF2-40B4-BE49-F238E27FC236}">
                <a16:creationId xmlns:a16="http://schemas.microsoft.com/office/drawing/2014/main" id="{23C0DB36-4847-A145-E43C-2F94C00D2E36}"/>
              </a:ext>
            </a:extLst>
          </p:cNvPr>
          <p:cNvSpPr txBox="1"/>
          <p:nvPr/>
        </p:nvSpPr>
        <p:spPr>
          <a:xfrm>
            <a:off x="914400" y="5066860"/>
            <a:ext cx="7269018"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Highlighting that the elite clubs exceed the average team size of 26 players, except for Juventus.</a:t>
            </a:r>
          </a:p>
        </p:txBody>
      </p:sp>
    </p:spTree>
    <p:extLst>
      <p:ext uri="{BB962C8B-B14F-4D97-AF65-F5344CB8AC3E}">
        <p14:creationId xmlns:p14="http://schemas.microsoft.com/office/powerpoint/2010/main" val="2698606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8603F95-5401-C66E-2136-F829275384F1}"/>
              </a:ext>
            </a:extLst>
          </p:cNvPr>
          <p:cNvSpPr txBox="1"/>
          <p:nvPr/>
        </p:nvSpPr>
        <p:spPr>
          <a:xfrm>
            <a:off x="914401" y="4649394"/>
            <a:ext cx="7405734" cy="1704697"/>
          </a:xfrm>
          <a:prstGeom prst="rect">
            <a:avLst/>
          </a:prstGeom>
          <a:noFill/>
        </p:spPr>
        <p:txBody>
          <a:bodyPr wrap="square" rtlCol="0">
            <a:spAutoFit/>
          </a:bodyPr>
          <a:lstStyle/>
          <a:p>
            <a:pPr marL="285750" indent="-285750">
              <a:lnSpc>
                <a:spcPct val="114000"/>
              </a:lnSpc>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club’s approach to player age mirrors its ambitions and defines its identity.</a:t>
            </a:r>
          </a:p>
          <a:p>
            <a:pPr marL="285750" indent="-285750">
              <a:lnSpc>
                <a:spcPct val="114000"/>
              </a:lnSpc>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Real Madrid, Barcelona, and Arsenal blend early-career and prime-age players to balance present success with future potential.</a:t>
            </a:r>
          </a:p>
          <a:p>
            <a:pPr marL="285750" indent="-285750">
              <a:lnSpc>
                <a:spcPct val="114000"/>
              </a:lnSpc>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Juventus focuses on prime-age players for immediate impact and experience.</a:t>
            </a:r>
          </a:p>
          <a:p>
            <a:pPr marL="285750" indent="-285750">
              <a:lnSpc>
                <a:spcPct val="114000"/>
              </a:lnSpc>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Liverpool prioritizes early-career talents.</a:t>
            </a:r>
          </a:p>
        </p:txBody>
      </p:sp>
      <p:sp>
        <p:nvSpPr>
          <p:cNvPr id="7" name="TextBox 6">
            <a:extLst>
              <a:ext uri="{FF2B5EF4-FFF2-40B4-BE49-F238E27FC236}">
                <a16:creationId xmlns:a16="http://schemas.microsoft.com/office/drawing/2014/main" id="{7593743D-31EE-E073-7630-420E745759B2}"/>
              </a:ext>
            </a:extLst>
          </p:cNvPr>
          <p:cNvSpPr txBox="1"/>
          <p:nvPr/>
        </p:nvSpPr>
        <p:spPr>
          <a:xfrm>
            <a:off x="457200" y="365760"/>
            <a:ext cx="5750485" cy="461665"/>
          </a:xfrm>
          <a:prstGeom prst="rect">
            <a:avLst/>
          </a:prstGeom>
          <a:noFill/>
        </p:spPr>
        <p:txBody>
          <a:bodyPr wrap="none" rtlCol="0">
            <a:spAutoFit/>
          </a:bodyPr>
          <a:lstStyle/>
          <a:p>
            <a:r>
              <a:rPr lang="en-US" sz="2400" b="1" u="sng" dirty="0">
                <a:latin typeface="Times New Roman" panose="02020603050405020304" pitchFamily="18" charset="0"/>
                <a:cs typeface="Times New Roman" panose="02020603050405020304" pitchFamily="18" charset="0"/>
              </a:rPr>
              <a:t>Age Shapes Strategy: Youth or Experience</a:t>
            </a:r>
          </a:p>
        </p:txBody>
      </p:sp>
      <p:pic>
        <p:nvPicPr>
          <p:cNvPr id="3" name="Picture 2" descr="A graph with green squares and blue lines&#10;&#10;AI-generated content may be incorrect.">
            <a:extLst>
              <a:ext uri="{FF2B5EF4-FFF2-40B4-BE49-F238E27FC236}">
                <a16:creationId xmlns:a16="http://schemas.microsoft.com/office/drawing/2014/main" id="{D62DFB57-2333-91AD-4788-1FC1B383D8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1" y="934126"/>
            <a:ext cx="7490297" cy="3715268"/>
          </a:xfrm>
          <a:prstGeom prst="rect">
            <a:avLst/>
          </a:prstGeom>
        </p:spPr>
      </p:pic>
    </p:spTree>
    <p:extLst>
      <p:ext uri="{BB962C8B-B14F-4D97-AF65-F5344CB8AC3E}">
        <p14:creationId xmlns:p14="http://schemas.microsoft.com/office/powerpoint/2010/main" val="2124108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5AB3BEE-0B6D-20CE-7E5C-B6DC309D0EFC}"/>
              </a:ext>
            </a:extLst>
          </p:cNvPr>
          <p:cNvSpPr txBox="1"/>
          <p:nvPr/>
        </p:nvSpPr>
        <p:spPr>
          <a:xfrm>
            <a:off x="985180" y="4944947"/>
            <a:ext cx="7724711"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Top clubs require body fat percentages in the athlete classification range 14% to 17% for optimal performance, yet Juventus stands out 3% higher than average body fat percentage.</a:t>
            </a:r>
          </a:p>
        </p:txBody>
      </p:sp>
      <p:sp>
        <p:nvSpPr>
          <p:cNvPr id="7" name="TextBox 6">
            <a:extLst>
              <a:ext uri="{FF2B5EF4-FFF2-40B4-BE49-F238E27FC236}">
                <a16:creationId xmlns:a16="http://schemas.microsoft.com/office/drawing/2014/main" id="{F48ACB7C-13D9-843E-1DD3-FE2675864D06}"/>
              </a:ext>
            </a:extLst>
          </p:cNvPr>
          <p:cNvSpPr txBox="1"/>
          <p:nvPr/>
        </p:nvSpPr>
        <p:spPr>
          <a:xfrm>
            <a:off x="457200" y="365760"/>
            <a:ext cx="9202529"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Fitness Standards: Measuring Body Fat</a:t>
            </a:r>
          </a:p>
        </p:txBody>
      </p:sp>
      <p:sp>
        <p:nvSpPr>
          <p:cNvPr id="8" name="TextBox 7">
            <a:extLst>
              <a:ext uri="{FF2B5EF4-FFF2-40B4-BE49-F238E27FC236}">
                <a16:creationId xmlns:a16="http://schemas.microsoft.com/office/drawing/2014/main" id="{EE9C8D15-5CCF-E94B-1184-C116AC0DA446}"/>
              </a:ext>
            </a:extLst>
          </p:cNvPr>
          <p:cNvSpPr txBox="1"/>
          <p:nvPr/>
        </p:nvSpPr>
        <p:spPr>
          <a:xfrm>
            <a:off x="457200" y="6184463"/>
            <a:ext cx="7253909" cy="307777"/>
          </a:xfrm>
          <a:prstGeom prst="rect">
            <a:avLst/>
          </a:prstGeom>
          <a:noFill/>
        </p:spPr>
        <p:txBody>
          <a:bodyPr wrap="none" rtlCol="0">
            <a:spAutoFit/>
          </a:bodyPr>
          <a:lstStyle/>
          <a:p>
            <a:r>
              <a:rPr lang="en-US" sz="1400" dirty="0"/>
              <a:t>Note: equation based on Deurenberg formula %= (1.20 * BMI) + (0.23 * Age) - 16.2</a:t>
            </a:r>
          </a:p>
        </p:txBody>
      </p:sp>
      <p:pic>
        <p:nvPicPr>
          <p:cNvPr id="3" name="Picture 2" descr="A graph showing a body fat percentage">
            <a:extLst>
              <a:ext uri="{FF2B5EF4-FFF2-40B4-BE49-F238E27FC236}">
                <a16:creationId xmlns:a16="http://schemas.microsoft.com/office/drawing/2014/main" id="{4EB4BFFC-3627-85B5-FC8B-50893FC83A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915310"/>
            <a:ext cx="7921782" cy="4029637"/>
          </a:xfrm>
          <a:prstGeom prst="rect">
            <a:avLst/>
          </a:prstGeom>
        </p:spPr>
      </p:pic>
    </p:spTree>
    <p:extLst>
      <p:ext uri="{BB962C8B-B14F-4D97-AF65-F5344CB8AC3E}">
        <p14:creationId xmlns:p14="http://schemas.microsoft.com/office/powerpoint/2010/main" val="3074666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C3501-41E7-46DB-EDE6-5A73B7294641}"/>
            </a:ext>
          </a:extLst>
        </p:cNvPr>
        <p:cNvGrpSpPr/>
        <p:nvPr/>
      </p:nvGrpSpPr>
      <p:grpSpPr>
        <a:xfrm>
          <a:off x="0" y="0"/>
          <a:ext cx="0" cy="0"/>
          <a:chOff x="0" y="0"/>
          <a:chExt cx="0" cy="0"/>
        </a:xfrm>
      </p:grpSpPr>
      <p:pic>
        <p:nvPicPr>
          <p:cNvPr id="4" name="Picture 3" descr="A graph with green and blue squares&#10;&#10;AI-generated content may be incorrect.">
            <a:extLst>
              <a:ext uri="{FF2B5EF4-FFF2-40B4-BE49-F238E27FC236}">
                <a16:creationId xmlns:a16="http://schemas.microsoft.com/office/drawing/2014/main" id="{804418C6-4FD3-32F8-DAFB-9610664D90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925649"/>
            <a:ext cx="7333673" cy="3496243"/>
          </a:xfrm>
          <a:prstGeom prst="rect">
            <a:avLst/>
          </a:prstGeom>
        </p:spPr>
      </p:pic>
      <p:sp>
        <p:nvSpPr>
          <p:cNvPr id="6" name="TextBox 5">
            <a:extLst>
              <a:ext uri="{FF2B5EF4-FFF2-40B4-BE49-F238E27FC236}">
                <a16:creationId xmlns:a16="http://schemas.microsoft.com/office/drawing/2014/main" id="{F140D8DE-2DD8-66F2-A460-301B1EA24254}"/>
              </a:ext>
            </a:extLst>
          </p:cNvPr>
          <p:cNvSpPr txBox="1"/>
          <p:nvPr/>
        </p:nvSpPr>
        <p:spPr>
          <a:xfrm>
            <a:off x="914400" y="4421892"/>
            <a:ext cx="7423841" cy="2123658"/>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player potential is the maximum ability or rating a player can reach.</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Real Madrid and Barcelona have high-potential with broad range, driven by a diverse age profiles.</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Juventus focus on small group of high-potential players, those ready to perform in their prime-age.</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Arsenal has lowest potential, indicating a lower emphasis on high-potential.</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Liverpool focus on high-potential players in their early-career.</a:t>
            </a:r>
          </a:p>
        </p:txBody>
      </p:sp>
      <p:sp>
        <p:nvSpPr>
          <p:cNvPr id="7" name="TextBox 6">
            <a:extLst>
              <a:ext uri="{FF2B5EF4-FFF2-40B4-BE49-F238E27FC236}">
                <a16:creationId xmlns:a16="http://schemas.microsoft.com/office/drawing/2014/main" id="{198CA92E-21CC-226E-ECA6-84A84F913816}"/>
              </a:ext>
            </a:extLst>
          </p:cNvPr>
          <p:cNvSpPr txBox="1"/>
          <p:nvPr/>
        </p:nvSpPr>
        <p:spPr>
          <a:xfrm>
            <a:off x="457200" y="365760"/>
            <a:ext cx="8880763"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Player Potential: A Look at Future Talent</a:t>
            </a:r>
          </a:p>
        </p:txBody>
      </p:sp>
    </p:spTree>
    <p:extLst>
      <p:ext uri="{BB962C8B-B14F-4D97-AF65-F5344CB8AC3E}">
        <p14:creationId xmlns:p14="http://schemas.microsoft.com/office/powerpoint/2010/main" val="1801484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D7A67-4ADB-5524-7A91-4E49FE614A82}"/>
            </a:ext>
          </a:extLst>
        </p:cNvPr>
        <p:cNvGrpSpPr/>
        <p:nvPr/>
      </p:nvGrpSpPr>
      <p:grpSpPr>
        <a:xfrm>
          <a:off x="0" y="0"/>
          <a:ext cx="0" cy="0"/>
          <a:chOff x="0" y="0"/>
          <a:chExt cx="0" cy="0"/>
        </a:xfrm>
      </p:grpSpPr>
      <p:pic>
        <p:nvPicPr>
          <p:cNvPr id="3" name="Picture 2" descr="A graph with a number of squares">
            <a:extLst>
              <a:ext uri="{FF2B5EF4-FFF2-40B4-BE49-F238E27FC236}">
                <a16:creationId xmlns:a16="http://schemas.microsoft.com/office/drawing/2014/main" id="{4BD9A79D-96EC-D408-7FBB-7EA722BD5B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399" y="914402"/>
            <a:ext cx="6601690" cy="3205112"/>
          </a:xfrm>
          <a:prstGeom prst="rect">
            <a:avLst/>
          </a:prstGeom>
        </p:spPr>
      </p:pic>
      <p:sp>
        <p:nvSpPr>
          <p:cNvPr id="6" name="TextBox 5">
            <a:extLst>
              <a:ext uri="{FF2B5EF4-FFF2-40B4-BE49-F238E27FC236}">
                <a16:creationId xmlns:a16="http://schemas.microsoft.com/office/drawing/2014/main" id="{D4E802D2-3E5C-FB8C-6370-F3C8830314A9}"/>
              </a:ext>
            </a:extLst>
          </p:cNvPr>
          <p:cNvSpPr txBox="1"/>
          <p:nvPr/>
        </p:nvSpPr>
        <p:spPr>
          <a:xfrm>
            <a:off x="914401" y="4100659"/>
            <a:ext cx="8691326" cy="2200602"/>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Among elite clubs, a player’s value in the market is closely tied to their age and potential. </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Real Madrid, and Barcelona have higher player values with broad range, due to their diverse age groups. </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Juventus has high player values within a tight range, as focusing on prime-age, high-potential talent. </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Arsenal records the lowest player values, as most of its players have lower potential. </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Liverpool has median player values, due to early-career players yet to reach their peak value. </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Each club has 1-3 exceptionally high-value player.</a:t>
            </a:r>
          </a:p>
        </p:txBody>
      </p:sp>
      <p:sp>
        <p:nvSpPr>
          <p:cNvPr id="7" name="TextBox 6">
            <a:extLst>
              <a:ext uri="{FF2B5EF4-FFF2-40B4-BE49-F238E27FC236}">
                <a16:creationId xmlns:a16="http://schemas.microsoft.com/office/drawing/2014/main" id="{9B24EAB6-263F-C673-1419-504EC74102D3}"/>
              </a:ext>
            </a:extLst>
          </p:cNvPr>
          <p:cNvSpPr txBox="1"/>
          <p:nvPr/>
        </p:nvSpPr>
        <p:spPr>
          <a:xfrm>
            <a:off x="457200" y="365760"/>
            <a:ext cx="8880763"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Distributing Investment: Player Values</a:t>
            </a:r>
          </a:p>
        </p:txBody>
      </p:sp>
    </p:spTree>
    <p:extLst>
      <p:ext uri="{BB962C8B-B14F-4D97-AF65-F5344CB8AC3E}">
        <p14:creationId xmlns:p14="http://schemas.microsoft.com/office/powerpoint/2010/main" val="2452223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1D245-37C1-5568-C873-ADE1DAE8DD11}"/>
            </a:ext>
          </a:extLst>
        </p:cNvPr>
        <p:cNvGrpSpPr/>
        <p:nvPr/>
      </p:nvGrpSpPr>
      <p:grpSpPr>
        <a:xfrm>
          <a:off x="0" y="0"/>
          <a:ext cx="0" cy="0"/>
          <a:chOff x="0" y="0"/>
          <a:chExt cx="0" cy="0"/>
        </a:xfrm>
      </p:grpSpPr>
      <p:pic>
        <p:nvPicPr>
          <p:cNvPr id="3" name="Picture 2" descr="A graph of a graph with lines and a line&#10;&#10;AI-generated content may be incorrect.">
            <a:extLst>
              <a:ext uri="{FF2B5EF4-FFF2-40B4-BE49-F238E27FC236}">
                <a16:creationId xmlns:a16="http://schemas.microsoft.com/office/drawing/2014/main" id="{9085AB13-5FAF-677E-883E-E65D7EAA11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398" y="914319"/>
            <a:ext cx="6672895" cy="3009845"/>
          </a:xfrm>
          <a:prstGeom prst="rect">
            <a:avLst/>
          </a:prstGeom>
        </p:spPr>
      </p:pic>
      <p:sp>
        <p:nvSpPr>
          <p:cNvPr id="6" name="TextBox 5">
            <a:extLst>
              <a:ext uri="{FF2B5EF4-FFF2-40B4-BE49-F238E27FC236}">
                <a16:creationId xmlns:a16="http://schemas.microsoft.com/office/drawing/2014/main" id="{C9AF4D3B-A883-9CFC-FAE6-45AFD814CB56}"/>
              </a:ext>
            </a:extLst>
          </p:cNvPr>
          <p:cNvSpPr txBox="1"/>
          <p:nvPr/>
        </p:nvSpPr>
        <p:spPr>
          <a:xfrm>
            <a:off x="914401" y="3924164"/>
            <a:ext cx="8519310" cy="2123658"/>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Player wages are excessively high for higher market value as part of the club’s retention strategy.</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Real Madrid, and Barcelona pay highest wages, as they have highest player market value.</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Juventus sustains average wages within a narrow range.</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Arsenal, and Liverpool fall below the average, due to their players having below-average market values.</a:t>
            </a:r>
            <a:endParaRPr lang="en-US" sz="1600" dirty="0">
              <a:highlight>
                <a:srgbClr val="C0C0C0"/>
              </a:highlight>
              <a:latin typeface="Times New Roman" panose="02020603050405020304" pitchFamily="18" charset="0"/>
              <a:cs typeface="Times New Roman" panose="02020603050405020304" pitchFamily="18" charset="0"/>
            </a:endParaRP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Each club offers exceptionally high salaries to their top players, though Liverpool adopts a more balanced wage structure overall.</a:t>
            </a:r>
          </a:p>
        </p:txBody>
      </p:sp>
      <p:sp>
        <p:nvSpPr>
          <p:cNvPr id="7" name="TextBox 6">
            <a:extLst>
              <a:ext uri="{FF2B5EF4-FFF2-40B4-BE49-F238E27FC236}">
                <a16:creationId xmlns:a16="http://schemas.microsoft.com/office/drawing/2014/main" id="{DD09D180-D476-CA98-E128-094B858752EE}"/>
              </a:ext>
            </a:extLst>
          </p:cNvPr>
          <p:cNvSpPr txBox="1"/>
          <p:nvPr/>
        </p:nvSpPr>
        <p:spPr>
          <a:xfrm>
            <a:off x="457200" y="365760"/>
            <a:ext cx="8880763"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Wage Equity: A Look At Fairly Paid</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43BEF9F-AFAA-06EC-29F5-EDE2542DB780}"/>
                  </a:ext>
                </a:extLst>
              </p:cNvPr>
              <p:cNvSpPr txBox="1"/>
              <p:nvPr/>
            </p:nvSpPr>
            <p:spPr>
              <a:xfrm>
                <a:off x="384771" y="6138228"/>
                <a:ext cx="11194331" cy="585288"/>
              </a:xfrm>
              <a:prstGeom prst="rect">
                <a:avLst/>
              </a:prstGeom>
              <a:noFill/>
            </p:spPr>
            <p:txBody>
              <a:bodyPr wrap="square" rtlCol="0">
                <a:spAutoFit/>
              </a:bodyPr>
              <a:lstStyle/>
              <a:p>
                <a:r>
                  <a:rPr lang="en-US" sz="1200" b="0" dirty="0">
                    <a:cs typeface="Times New Roman" panose="02020603050405020304" pitchFamily="18" charset="0"/>
                  </a:rPr>
                  <a:t>Note: equation used to estimate player wage fairness = </a:t>
                </a:r>
                <a14:m>
                  <m:oMath xmlns:m="http://schemas.openxmlformats.org/officeDocument/2006/math">
                    <m:d>
                      <m:dPr>
                        <m:ctrlPr>
                          <a:rPr lang="en-US" sz="1100" b="0" i="1" smtClean="0">
                            <a:latin typeface="Cambria Math" panose="02040503050406030204" pitchFamily="18" charset="0"/>
                            <a:cs typeface="Times New Roman" panose="02020603050405020304" pitchFamily="18" charset="0"/>
                          </a:rPr>
                        </m:ctrlPr>
                      </m:dPr>
                      <m:e>
                        <m:r>
                          <a:rPr lang="en-US" sz="1100" b="0" i="1" smtClean="0">
                            <a:latin typeface="Cambria Math" panose="02040503050406030204" pitchFamily="18" charset="0"/>
                            <a:cs typeface="Times New Roman" panose="02020603050405020304" pitchFamily="18" charset="0"/>
                          </a:rPr>
                          <m:t>𝑃𝑙𝑎𝑦𝑒𝑟</m:t>
                        </m:r>
                        <m:r>
                          <a:rPr lang="en-US" sz="1100" b="0" i="1" smtClean="0">
                            <a:latin typeface="Cambria Math" panose="02040503050406030204" pitchFamily="18" charset="0"/>
                            <a:cs typeface="Times New Roman" panose="02020603050405020304" pitchFamily="18" charset="0"/>
                          </a:rPr>
                          <m:t> </m:t>
                        </m:r>
                        <m:r>
                          <a:rPr lang="en-US" sz="1100" b="0" i="1" smtClean="0">
                            <a:latin typeface="Cambria Math" panose="02040503050406030204" pitchFamily="18" charset="0"/>
                            <a:cs typeface="Times New Roman" panose="02020603050405020304" pitchFamily="18" charset="0"/>
                          </a:rPr>
                          <m:t>𝑊𝑎𝑔𝑒</m:t>
                        </m:r>
                        <m:r>
                          <a:rPr lang="en-US" sz="1100" b="0" i="1" smtClean="0">
                            <a:latin typeface="Cambria Math" panose="02040503050406030204" pitchFamily="18" charset="0"/>
                            <a:cs typeface="Times New Roman" panose="02020603050405020304" pitchFamily="18" charset="0"/>
                          </a:rPr>
                          <m:t>(</m:t>
                        </m:r>
                        <m:r>
                          <a:rPr lang="en-US" sz="1100" b="0" i="1" smtClean="0">
                            <a:latin typeface="Cambria Math" panose="02040503050406030204" pitchFamily="18" charset="0"/>
                            <a:cs typeface="Times New Roman" panose="02020603050405020304" pitchFamily="18" charset="0"/>
                          </a:rPr>
                          <m:t>𝑖𝑛</m:t>
                        </m:r>
                        <m:r>
                          <a:rPr lang="en-US" sz="1100" b="0" i="1" smtClean="0">
                            <a:latin typeface="Cambria Math" panose="02040503050406030204" pitchFamily="18" charset="0"/>
                            <a:cs typeface="Times New Roman" panose="02020603050405020304" pitchFamily="18" charset="0"/>
                          </a:rPr>
                          <m:t> </m:t>
                        </m:r>
                        <m:r>
                          <a:rPr lang="en-US" sz="1100" b="0" i="1" smtClean="0">
                            <a:latin typeface="Cambria Math" panose="02040503050406030204" pitchFamily="18" charset="0"/>
                            <a:cs typeface="Times New Roman" panose="02020603050405020304" pitchFamily="18" charset="0"/>
                          </a:rPr>
                          <m:t>𝐾</m:t>
                        </m:r>
                        <m:r>
                          <a:rPr lang="en-US" sz="1100" b="0" i="1" smtClean="0">
                            <a:latin typeface="Cambria Math" panose="02040503050406030204" pitchFamily="18" charset="0"/>
                            <a:cs typeface="Times New Roman" panose="02020603050405020304" pitchFamily="18" charset="0"/>
                          </a:rPr>
                          <m:t>) ∗ </m:t>
                        </m:r>
                        <m:f>
                          <m:fPr>
                            <m:ctrlPr>
                              <a:rPr lang="en-US" sz="1100" b="0" i="1" smtClean="0">
                                <a:latin typeface="Cambria Math" panose="02040503050406030204" pitchFamily="18" charset="0"/>
                                <a:cs typeface="Times New Roman" panose="02020603050405020304" pitchFamily="18" charset="0"/>
                              </a:rPr>
                            </m:ctrlPr>
                          </m:fPr>
                          <m:num>
                            <m:r>
                              <a:rPr lang="en-US" sz="1100" b="0" i="1" smtClean="0">
                                <a:latin typeface="Cambria Math" panose="02040503050406030204" pitchFamily="18" charset="0"/>
                                <a:cs typeface="Times New Roman" panose="02020603050405020304" pitchFamily="18" charset="0"/>
                              </a:rPr>
                              <m:t>1</m:t>
                            </m:r>
                          </m:num>
                          <m:den>
                            <m:r>
                              <a:rPr lang="en-US" sz="1100" b="0" i="1" smtClean="0">
                                <a:latin typeface="Cambria Math" panose="02040503050406030204" pitchFamily="18" charset="0"/>
                                <a:cs typeface="Times New Roman" panose="02020603050405020304" pitchFamily="18" charset="0"/>
                              </a:rPr>
                              <m:t>1.15</m:t>
                            </m:r>
                            <m:rad>
                              <m:radPr>
                                <m:degHide m:val="on"/>
                                <m:ctrlPr>
                                  <a:rPr lang="en-US" sz="1100" b="0" i="1" smtClean="0">
                                    <a:latin typeface="Cambria Math" panose="02040503050406030204" pitchFamily="18" charset="0"/>
                                    <a:ea typeface="Cambria Math" panose="02040503050406030204" pitchFamily="18" charset="0"/>
                                    <a:cs typeface="Times New Roman" panose="02020603050405020304" pitchFamily="18" charset="0"/>
                                  </a:rPr>
                                </m:ctrlPr>
                              </m:radPr>
                              <m:deg/>
                              <m:e>
                                <m:r>
                                  <a:rPr lang="en-US" sz="1100" i="1">
                                    <a:latin typeface="Cambria Math" panose="02040503050406030204" pitchFamily="18" charset="0"/>
                                    <a:ea typeface="Cambria Math" panose="02040503050406030204" pitchFamily="18" charset="0"/>
                                    <a:cs typeface="Times New Roman" panose="02020603050405020304" pitchFamily="18" charset="0"/>
                                  </a:rPr>
                                  <m:t>𝑃𝑙𝑎𝑦𝑒𝑟</m:t>
                                </m:r>
                                <m:r>
                                  <a:rPr lang="en-US" sz="1100" i="1">
                                    <a:latin typeface="Cambria Math" panose="02040503050406030204" pitchFamily="18" charset="0"/>
                                    <a:ea typeface="Cambria Math" panose="02040503050406030204" pitchFamily="18" charset="0"/>
                                    <a:cs typeface="Times New Roman" panose="02020603050405020304" pitchFamily="18" charset="0"/>
                                  </a:rPr>
                                  <m:t> </m:t>
                                </m:r>
                                <m:r>
                                  <a:rPr lang="en-US" sz="1100" i="1">
                                    <a:latin typeface="Cambria Math" panose="02040503050406030204" pitchFamily="18" charset="0"/>
                                    <a:ea typeface="Cambria Math" panose="02040503050406030204" pitchFamily="18" charset="0"/>
                                    <a:cs typeface="Times New Roman" panose="02020603050405020304" pitchFamily="18" charset="0"/>
                                  </a:rPr>
                                  <m:t>𝑉𝑎𝑙𝑢𝑒</m:t>
                                </m:r>
                                <m:r>
                                  <a:rPr lang="en-US" sz="1100" i="1">
                                    <a:latin typeface="Cambria Math" panose="02040503050406030204" pitchFamily="18" charset="0"/>
                                    <a:ea typeface="Cambria Math" panose="02040503050406030204" pitchFamily="18" charset="0"/>
                                    <a:cs typeface="Times New Roman" panose="02020603050405020304" pitchFamily="18" charset="0"/>
                                  </a:rPr>
                                  <m:t> ( </m:t>
                                </m:r>
                                <m:r>
                                  <a:rPr lang="en-US" sz="1100" i="1">
                                    <a:latin typeface="Cambria Math" panose="02040503050406030204" pitchFamily="18" charset="0"/>
                                    <a:ea typeface="Cambria Math" panose="02040503050406030204" pitchFamily="18" charset="0"/>
                                    <a:cs typeface="Times New Roman" panose="02020603050405020304" pitchFamily="18" charset="0"/>
                                  </a:rPr>
                                  <m:t>𝑖𝑛</m:t>
                                </m:r>
                                <m:r>
                                  <a:rPr lang="en-US" sz="1100" i="1">
                                    <a:latin typeface="Cambria Math" panose="02040503050406030204" pitchFamily="18" charset="0"/>
                                    <a:ea typeface="Cambria Math" panose="02040503050406030204" pitchFamily="18" charset="0"/>
                                    <a:cs typeface="Times New Roman" panose="02020603050405020304" pitchFamily="18" charset="0"/>
                                  </a:rPr>
                                  <m:t> </m:t>
                                </m:r>
                                <m:r>
                                  <a:rPr lang="en-US" sz="1100" i="1">
                                    <a:latin typeface="Cambria Math" panose="02040503050406030204" pitchFamily="18" charset="0"/>
                                    <a:ea typeface="Cambria Math" panose="02040503050406030204" pitchFamily="18" charset="0"/>
                                    <a:cs typeface="Times New Roman" panose="02020603050405020304" pitchFamily="18" charset="0"/>
                                  </a:rPr>
                                  <m:t>𝐾</m:t>
                                </m:r>
                                <m:r>
                                  <a:rPr lang="en-US" sz="1100" b="0" i="1" smtClean="0">
                                    <a:latin typeface="Cambria Math" panose="02040503050406030204" pitchFamily="18" charset="0"/>
                                    <a:ea typeface="Cambria Math" panose="02040503050406030204" pitchFamily="18" charset="0"/>
                                    <a:cs typeface="Times New Roman" panose="02020603050405020304" pitchFamily="18" charset="0"/>
                                  </a:rPr>
                                  <m:t>)</m:t>
                                </m:r>
                              </m:e>
                            </m:rad>
                          </m:den>
                        </m:f>
                      </m:e>
                    </m:d>
                    <m:r>
                      <a:rPr lang="en-US" sz="1100" b="0" i="1" smtClean="0">
                        <a:latin typeface="Cambria Math" panose="02040503050406030204" pitchFamily="18" charset="0"/>
                        <a:cs typeface="Times New Roman" panose="02020603050405020304" pitchFamily="18" charset="0"/>
                      </a:rPr>
                      <m:t>∗100</m:t>
                    </m:r>
                  </m:oMath>
                </a14:m>
                <a:r>
                  <a:rPr lang="en-US" sz="1200" dirty="0">
                    <a:cs typeface="Times New Roman" panose="02020603050405020304" pitchFamily="18" charset="0"/>
                  </a:rPr>
                  <a:t>, while the equation isn’t perfectly accurate, it captures good </a:t>
                </a:r>
                <a:r>
                  <a:rPr lang="en-US" sz="1200" dirty="0">
                    <a:solidFill>
                      <a:prstClr val="white"/>
                    </a:solidFill>
                    <a:cs typeface="Times New Roman" panose="02020603050405020304" pitchFamily="18" charset="0"/>
                  </a:rPr>
                  <a:t>insights, rather than raw wage.</a:t>
                </a:r>
                <a:endParaRPr lang="en-US" sz="1200" dirty="0"/>
              </a:p>
            </p:txBody>
          </p:sp>
        </mc:Choice>
        <mc:Fallback xmlns="">
          <p:sp>
            <p:nvSpPr>
              <p:cNvPr id="5" name="TextBox 4">
                <a:extLst>
                  <a:ext uri="{FF2B5EF4-FFF2-40B4-BE49-F238E27FC236}">
                    <a16:creationId xmlns:a16="http://schemas.microsoft.com/office/drawing/2014/main" id="{743BEF9F-AFAA-06EC-29F5-EDE2542DB780}"/>
                  </a:ext>
                </a:extLst>
              </p:cNvPr>
              <p:cNvSpPr txBox="1">
                <a:spLocks noRot="1" noChangeAspect="1" noMove="1" noResize="1" noEditPoints="1" noAdjustHandles="1" noChangeArrowheads="1" noChangeShapeType="1" noTextEdit="1"/>
              </p:cNvSpPr>
              <p:nvPr/>
            </p:nvSpPr>
            <p:spPr>
              <a:xfrm>
                <a:off x="384771" y="6138228"/>
                <a:ext cx="11194331" cy="585288"/>
              </a:xfrm>
              <a:prstGeom prst="rect">
                <a:avLst/>
              </a:prstGeom>
              <a:blipFill>
                <a:blip r:embed="rId3"/>
                <a:stretch>
                  <a:fillRect b="-8333"/>
                </a:stretch>
              </a:blipFill>
            </p:spPr>
            <p:txBody>
              <a:bodyPr/>
              <a:lstStyle/>
              <a:p>
                <a:r>
                  <a:rPr lang="en-US">
                    <a:noFill/>
                  </a:rPr>
                  <a:t> </a:t>
                </a:r>
              </a:p>
            </p:txBody>
          </p:sp>
        </mc:Fallback>
      </mc:AlternateContent>
    </p:spTree>
    <p:extLst>
      <p:ext uri="{BB962C8B-B14F-4D97-AF65-F5344CB8AC3E}">
        <p14:creationId xmlns:p14="http://schemas.microsoft.com/office/powerpoint/2010/main" val="2348687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D21C4-6647-9818-262C-64D484DA5FCF}"/>
            </a:ext>
          </a:extLst>
        </p:cNvPr>
        <p:cNvGrpSpPr/>
        <p:nvPr/>
      </p:nvGrpSpPr>
      <p:grpSpPr>
        <a:xfrm>
          <a:off x="0" y="0"/>
          <a:ext cx="0" cy="0"/>
          <a:chOff x="0" y="0"/>
          <a:chExt cx="0" cy="0"/>
        </a:xfrm>
      </p:grpSpPr>
      <p:pic>
        <p:nvPicPr>
          <p:cNvPr id="3" name="Picture 2" descr="A graph with a line of green and blue squares">
            <a:extLst>
              <a:ext uri="{FF2B5EF4-FFF2-40B4-BE49-F238E27FC236}">
                <a16:creationId xmlns:a16="http://schemas.microsoft.com/office/drawing/2014/main" id="{93A88E60-93D7-7C3B-99D2-5AA6A57325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399" y="906467"/>
            <a:ext cx="6672896" cy="3178968"/>
          </a:xfrm>
          <a:prstGeom prst="rect">
            <a:avLst/>
          </a:prstGeom>
        </p:spPr>
      </p:pic>
      <p:sp>
        <p:nvSpPr>
          <p:cNvPr id="7" name="TextBox 6">
            <a:extLst>
              <a:ext uri="{FF2B5EF4-FFF2-40B4-BE49-F238E27FC236}">
                <a16:creationId xmlns:a16="http://schemas.microsoft.com/office/drawing/2014/main" id="{99C730FE-7108-4EB5-B236-FA97EA8146EA}"/>
              </a:ext>
            </a:extLst>
          </p:cNvPr>
          <p:cNvSpPr txBox="1"/>
          <p:nvPr/>
        </p:nvSpPr>
        <p:spPr>
          <a:xfrm>
            <a:off x="457200" y="365760"/>
            <a:ext cx="8880763"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Contract Leverage: Elite Clubs Control Over Players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E792117-4496-2A6A-194E-75403596F222}"/>
                  </a:ext>
                </a:extLst>
              </p:cNvPr>
              <p:cNvSpPr txBox="1"/>
              <p:nvPr/>
            </p:nvSpPr>
            <p:spPr>
              <a:xfrm>
                <a:off x="457200" y="6416547"/>
                <a:ext cx="11194331" cy="386773"/>
              </a:xfrm>
              <a:prstGeom prst="rect">
                <a:avLst/>
              </a:prstGeom>
              <a:noFill/>
            </p:spPr>
            <p:txBody>
              <a:bodyPr wrap="square" rtlCol="0">
                <a:spAutoFit/>
              </a:bodyPr>
              <a:lstStyle/>
              <a:p>
                <a:pPr>
                  <a:spcBef>
                    <a:spcPts val="600"/>
                  </a:spcBef>
                </a:pPr>
                <a:r>
                  <a:rPr lang="en-US" sz="1200" b="0" dirty="0">
                    <a:cs typeface="Times New Roman" panose="02020603050405020304" pitchFamily="18" charset="0"/>
                  </a:rPr>
                  <a:t>Note: equation used to estimate contract control %= </a:t>
                </a:r>
                <a14:m>
                  <m:oMath xmlns:m="http://schemas.openxmlformats.org/officeDocument/2006/math">
                    <m:f>
                      <m:fPr>
                        <m:ctrlPr>
                          <a:rPr lang="en-US" sz="1200" i="1">
                            <a:latin typeface="Cambria Math" panose="02040503050406030204" pitchFamily="18" charset="0"/>
                            <a:cs typeface="Times New Roman" panose="02020603050405020304" pitchFamily="18" charset="0"/>
                          </a:rPr>
                        </m:ctrlPr>
                      </m:fPr>
                      <m:num>
                        <m:func>
                          <m:funcPr>
                            <m:ctrlPr>
                              <a:rPr lang="en-US" sz="1200" i="1" smtClean="0">
                                <a:latin typeface="Cambria Math" panose="02040503050406030204" pitchFamily="18" charset="0"/>
                                <a:cs typeface="Times New Roman" panose="02020603050405020304" pitchFamily="18" charset="0"/>
                              </a:rPr>
                            </m:ctrlPr>
                          </m:funcPr>
                          <m:fName>
                            <m:sSub>
                              <m:sSubPr>
                                <m:ctrlPr>
                                  <a:rPr lang="en-US" sz="1200" i="1" smtClean="0">
                                    <a:latin typeface="Cambria Math" panose="02040503050406030204" pitchFamily="18" charset="0"/>
                                    <a:cs typeface="Times New Roman" panose="02020603050405020304" pitchFamily="18" charset="0"/>
                                  </a:rPr>
                                </m:ctrlPr>
                              </m:sSubPr>
                              <m:e>
                                <m:r>
                                  <m:rPr>
                                    <m:sty m:val="p"/>
                                  </m:rPr>
                                  <a:rPr lang="en-US" sz="1200" i="0" smtClean="0">
                                    <a:latin typeface="Cambria Math" panose="02040503050406030204" pitchFamily="18" charset="0"/>
                                    <a:cs typeface="Times New Roman" panose="02020603050405020304" pitchFamily="18" charset="0"/>
                                  </a:rPr>
                                  <m:t>log</m:t>
                                </m:r>
                              </m:e>
                              <m:sub>
                                <m:r>
                                  <a:rPr lang="en-US" sz="1200" b="0" i="1" smtClean="0">
                                    <a:latin typeface="Cambria Math" panose="02040503050406030204" pitchFamily="18" charset="0"/>
                                    <a:cs typeface="Times New Roman" panose="02020603050405020304" pitchFamily="18" charset="0"/>
                                  </a:rPr>
                                  <m:t>2</m:t>
                                </m:r>
                              </m:sub>
                            </m:sSub>
                          </m:fName>
                          <m:e>
                            <m:r>
                              <a:rPr lang="en-US" sz="1200" b="0" i="1" smtClean="0">
                                <a:latin typeface="Cambria Math" panose="02040503050406030204" pitchFamily="18" charset="0"/>
                                <a:cs typeface="Times New Roman" panose="02020603050405020304" pitchFamily="18" charset="0"/>
                              </a:rPr>
                              <m:t>𝑅𝑒𝑙𝑒𝑎𝑠𝑒</m:t>
                            </m:r>
                            <m:r>
                              <a:rPr lang="en-US" sz="1200" b="0" i="1" smtClean="0">
                                <a:latin typeface="Cambria Math" panose="02040503050406030204" pitchFamily="18" charset="0"/>
                                <a:cs typeface="Times New Roman" panose="02020603050405020304" pitchFamily="18" charset="0"/>
                              </a:rPr>
                              <m:t> </m:t>
                            </m:r>
                            <m:r>
                              <a:rPr lang="en-US" sz="1200" b="0" i="1" smtClean="0">
                                <a:latin typeface="Cambria Math" panose="02040503050406030204" pitchFamily="18" charset="0"/>
                                <a:cs typeface="Times New Roman" panose="02020603050405020304" pitchFamily="18" charset="0"/>
                              </a:rPr>
                              <m:t>𝐶𝑙𝑎𝑢𝑠𝑒</m:t>
                            </m:r>
                            <m:r>
                              <a:rPr lang="en-US" sz="1200" b="0" i="1" smtClean="0">
                                <a:latin typeface="Cambria Math" panose="02040503050406030204" pitchFamily="18" charset="0"/>
                                <a:cs typeface="Times New Roman" panose="02020603050405020304" pitchFamily="18" charset="0"/>
                              </a:rPr>
                              <m:t> (</m:t>
                            </m:r>
                            <m:r>
                              <a:rPr lang="en-US" sz="1200" b="0" i="1" smtClean="0">
                                <a:latin typeface="Cambria Math" panose="02040503050406030204" pitchFamily="18" charset="0"/>
                                <a:cs typeface="Times New Roman" panose="02020603050405020304" pitchFamily="18" charset="0"/>
                              </a:rPr>
                              <m:t>𝑖𝑛</m:t>
                            </m:r>
                            <m:r>
                              <a:rPr lang="en-US" sz="1200" b="0" i="1" smtClean="0">
                                <a:latin typeface="Cambria Math" panose="02040503050406030204" pitchFamily="18" charset="0"/>
                                <a:cs typeface="Times New Roman" panose="02020603050405020304" pitchFamily="18" charset="0"/>
                              </a:rPr>
                              <m:t> </m:t>
                            </m:r>
                            <m:r>
                              <a:rPr lang="en-US" sz="1200" b="0" i="1" smtClean="0">
                                <a:latin typeface="Cambria Math" panose="02040503050406030204" pitchFamily="18" charset="0"/>
                                <a:cs typeface="Times New Roman" panose="02020603050405020304" pitchFamily="18" charset="0"/>
                              </a:rPr>
                              <m:t>𝐾</m:t>
                            </m:r>
                            <m:r>
                              <a:rPr lang="en-US" sz="1200" b="0" i="1" smtClean="0">
                                <a:latin typeface="Cambria Math" panose="02040503050406030204" pitchFamily="18" charset="0"/>
                                <a:cs typeface="Times New Roman" panose="02020603050405020304" pitchFamily="18" charset="0"/>
                              </a:rPr>
                              <m:t>)</m:t>
                            </m:r>
                          </m:e>
                        </m:func>
                      </m:num>
                      <m:den>
                        <m:func>
                          <m:funcPr>
                            <m:ctrlPr>
                              <a:rPr lang="en-US" sz="1200" i="1" smtClean="0">
                                <a:latin typeface="Cambria Math" panose="02040503050406030204" pitchFamily="18" charset="0"/>
                                <a:cs typeface="Times New Roman" panose="02020603050405020304" pitchFamily="18" charset="0"/>
                              </a:rPr>
                            </m:ctrlPr>
                          </m:funcPr>
                          <m:fName>
                            <m:sSub>
                              <m:sSubPr>
                                <m:ctrlPr>
                                  <a:rPr lang="en-US" sz="1200" i="1" smtClean="0">
                                    <a:latin typeface="Cambria Math" panose="02040503050406030204" pitchFamily="18" charset="0"/>
                                    <a:cs typeface="Times New Roman" panose="02020603050405020304" pitchFamily="18" charset="0"/>
                                  </a:rPr>
                                </m:ctrlPr>
                              </m:sSubPr>
                              <m:e>
                                <m:r>
                                  <m:rPr>
                                    <m:sty m:val="p"/>
                                  </m:rPr>
                                  <a:rPr lang="en-US" sz="1200" i="0" smtClean="0">
                                    <a:latin typeface="Cambria Math" panose="02040503050406030204" pitchFamily="18" charset="0"/>
                                    <a:cs typeface="Times New Roman" panose="02020603050405020304" pitchFamily="18" charset="0"/>
                                  </a:rPr>
                                  <m:t>log</m:t>
                                </m:r>
                              </m:e>
                              <m:sub>
                                <m:r>
                                  <a:rPr lang="en-US" sz="1200" b="0" i="1" smtClean="0">
                                    <a:latin typeface="Cambria Math" panose="02040503050406030204" pitchFamily="18" charset="0"/>
                                    <a:cs typeface="Times New Roman" panose="02020603050405020304" pitchFamily="18" charset="0"/>
                                  </a:rPr>
                                  <m:t>2</m:t>
                                </m:r>
                              </m:sub>
                            </m:sSub>
                          </m:fName>
                          <m:e>
                            <m:r>
                              <a:rPr lang="en-US" sz="1200" i="1">
                                <a:latin typeface="Cambria Math" panose="02040503050406030204" pitchFamily="18" charset="0"/>
                                <a:cs typeface="Times New Roman" panose="02020603050405020304" pitchFamily="18" charset="0"/>
                              </a:rPr>
                              <m:t>𝑃𝑙𝑎𝑦𝑒𝑟</m:t>
                            </m:r>
                            <m:r>
                              <a:rPr lang="en-US" sz="1200" i="1">
                                <a:latin typeface="Cambria Math" panose="02040503050406030204" pitchFamily="18" charset="0"/>
                                <a:cs typeface="Times New Roman" panose="02020603050405020304" pitchFamily="18" charset="0"/>
                              </a:rPr>
                              <m:t> </m:t>
                            </m:r>
                            <m:r>
                              <a:rPr lang="en-US" sz="1200" i="1">
                                <a:latin typeface="Cambria Math" panose="02040503050406030204" pitchFamily="18" charset="0"/>
                                <a:cs typeface="Times New Roman" panose="02020603050405020304" pitchFamily="18" charset="0"/>
                              </a:rPr>
                              <m:t>𝑉𝑎𝑙𝑢𝑒</m:t>
                            </m:r>
                            <m:r>
                              <a:rPr lang="en-US" sz="1200" b="0" i="1" smtClean="0">
                                <a:latin typeface="Cambria Math" panose="02040503050406030204" pitchFamily="18" charset="0"/>
                                <a:cs typeface="Times New Roman" panose="02020603050405020304" pitchFamily="18" charset="0"/>
                              </a:rPr>
                              <m:t> (</m:t>
                            </m:r>
                            <m:r>
                              <a:rPr lang="en-US" sz="1200" b="0" i="1" smtClean="0">
                                <a:latin typeface="Cambria Math" panose="02040503050406030204" pitchFamily="18" charset="0"/>
                                <a:cs typeface="Times New Roman" panose="02020603050405020304" pitchFamily="18" charset="0"/>
                              </a:rPr>
                              <m:t>𝑖𝑛</m:t>
                            </m:r>
                            <m:r>
                              <a:rPr lang="en-US" sz="1200" b="0" i="1" smtClean="0">
                                <a:latin typeface="Cambria Math" panose="02040503050406030204" pitchFamily="18" charset="0"/>
                                <a:cs typeface="Times New Roman" panose="02020603050405020304" pitchFamily="18" charset="0"/>
                              </a:rPr>
                              <m:t> </m:t>
                            </m:r>
                            <m:r>
                              <a:rPr lang="en-US" sz="1200" b="0" i="1" smtClean="0">
                                <a:latin typeface="Cambria Math" panose="02040503050406030204" pitchFamily="18" charset="0"/>
                                <a:cs typeface="Times New Roman" panose="02020603050405020304" pitchFamily="18" charset="0"/>
                              </a:rPr>
                              <m:t>𝐾</m:t>
                            </m:r>
                            <m:r>
                              <a:rPr lang="en-US" sz="1200" b="0" i="1" smtClean="0">
                                <a:latin typeface="Cambria Math" panose="02040503050406030204" pitchFamily="18" charset="0"/>
                                <a:cs typeface="Times New Roman" panose="02020603050405020304" pitchFamily="18" charset="0"/>
                              </a:rPr>
                              <m:t>)</m:t>
                            </m:r>
                          </m:e>
                        </m:func>
                      </m:den>
                    </m:f>
                    <m:r>
                      <a:rPr lang="en-US" sz="1200" i="1">
                        <a:latin typeface="Cambria Math" panose="02040503050406030204" pitchFamily="18" charset="0"/>
                        <a:cs typeface="Times New Roman" panose="02020603050405020304" pitchFamily="18" charset="0"/>
                      </a:rPr>
                      <m:t> ∗(5</m:t>
                    </m:r>
                    <m:func>
                      <m:funcPr>
                        <m:ctrlPr>
                          <a:rPr lang="en-US" sz="1200" b="0" i="1" smtClean="0">
                            <a:latin typeface="Cambria Math" panose="02040503050406030204" pitchFamily="18" charset="0"/>
                            <a:cs typeface="Times New Roman" panose="02020603050405020304" pitchFamily="18" charset="0"/>
                          </a:rPr>
                        </m:ctrlPr>
                      </m:funcPr>
                      <m:fName>
                        <m:sSub>
                          <m:sSubPr>
                            <m:ctrlPr>
                              <a:rPr lang="en-US" sz="1200" b="0" i="1" smtClean="0">
                                <a:latin typeface="Cambria Math" panose="02040503050406030204" pitchFamily="18" charset="0"/>
                                <a:cs typeface="Times New Roman" panose="02020603050405020304" pitchFamily="18" charset="0"/>
                              </a:rPr>
                            </m:ctrlPr>
                          </m:sSubPr>
                          <m:e>
                            <m:r>
                              <m:rPr>
                                <m:sty m:val="p"/>
                              </m:rPr>
                              <a:rPr lang="en-US" sz="1200" b="0" i="0" smtClean="0">
                                <a:latin typeface="Cambria Math" panose="02040503050406030204" pitchFamily="18" charset="0"/>
                                <a:cs typeface="Times New Roman" panose="02020603050405020304" pitchFamily="18" charset="0"/>
                              </a:rPr>
                              <m:t>log</m:t>
                            </m:r>
                          </m:e>
                          <m:sub>
                            <m:r>
                              <a:rPr lang="en-US" sz="1200" b="0" i="1" smtClean="0">
                                <a:latin typeface="Cambria Math" panose="02040503050406030204" pitchFamily="18" charset="0"/>
                                <a:cs typeface="Times New Roman" panose="02020603050405020304" pitchFamily="18" charset="0"/>
                              </a:rPr>
                              <m:t>2</m:t>
                            </m:r>
                          </m:sub>
                        </m:sSub>
                      </m:fName>
                      <m:e>
                        <m:r>
                          <a:rPr lang="en-US" sz="1200" i="1">
                            <a:latin typeface="Cambria Math" panose="02040503050406030204" pitchFamily="18" charset="0"/>
                            <a:cs typeface="Times New Roman" panose="02020603050405020304" pitchFamily="18" charset="0"/>
                          </a:rPr>
                          <m:t>𝑅𝑒𝑙𝑒𝑎𝑠𝑒</m:t>
                        </m:r>
                        <m:r>
                          <a:rPr lang="en-US" sz="1200" i="1">
                            <a:latin typeface="Cambria Math" panose="02040503050406030204" pitchFamily="18" charset="0"/>
                            <a:cs typeface="Times New Roman" panose="02020603050405020304" pitchFamily="18" charset="0"/>
                          </a:rPr>
                          <m:t> </m:t>
                        </m:r>
                        <m:r>
                          <a:rPr lang="en-US" sz="1200" i="1">
                            <a:latin typeface="Cambria Math" panose="02040503050406030204" pitchFamily="18" charset="0"/>
                            <a:cs typeface="Times New Roman" panose="02020603050405020304" pitchFamily="18" charset="0"/>
                          </a:rPr>
                          <m:t>𝐶𝑙𝑎𝑢𝑠𝑒</m:t>
                        </m:r>
                        <m:r>
                          <a:rPr lang="en-US" sz="1200" b="0" i="1" smtClean="0">
                            <a:latin typeface="Cambria Math" panose="02040503050406030204" pitchFamily="18" charset="0"/>
                            <a:cs typeface="Times New Roman" panose="02020603050405020304" pitchFamily="18" charset="0"/>
                          </a:rPr>
                          <m:t> (</m:t>
                        </m:r>
                        <m:r>
                          <a:rPr lang="en-US" sz="1200" b="0" i="1" smtClean="0">
                            <a:latin typeface="Cambria Math" panose="02040503050406030204" pitchFamily="18" charset="0"/>
                            <a:cs typeface="Times New Roman" panose="02020603050405020304" pitchFamily="18" charset="0"/>
                          </a:rPr>
                          <m:t>𝑖𝑛</m:t>
                        </m:r>
                        <m:r>
                          <a:rPr lang="en-US" sz="1200" b="0" i="1" smtClean="0">
                            <a:latin typeface="Cambria Math" panose="02040503050406030204" pitchFamily="18" charset="0"/>
                            <a:cs typeface="Times New Roman" panose="02020603050405020304" pitchFamily="18" charset="0"/>
                          </a:rPr>
                          <m:t> </m:t>
                        </m:r>
                        <m:r>
                          <a:rPr lang="en-US" sz="1200" b="0" i="1" smtClean="0">
                            <a:latin typeface="Cambria Math" panose="02040503050406030204" pitchFamily="18" charset="0"/>
                            <a:cs typeface="Times New Roman" panose="02020603050405020304" pitchFamily="18" charset="0"/>
                          </a:rPr>
                          <m:t>𝐾</m:t>
                        </m:r>
                        <m:r>
                          <a:rPr lang="en-US" sz="1200" b="0" i="1" smtClean="0">
                            <a:latin typeface="Cambria Math" panose="02040503050406030204" pitchFamily="18" charset="0"/>
                            <a:cs typeface="Times New Roman" panose="02020603050405020304" pitchFamily="18" charset="0"/>
                          </a:rPr>
                          <m:t>)</m:t>
                        </m:r>
                      </m:e>
                    </m:func>
                    <m:r>
                      <a:rPr lang="en-US" sz="1200" i="1">
                        <a:latin typeface="Cambria Math" panose="02040503050406030204" pitchFamily="18" charset="0"/>
                        <a:cs typeface="Times New Roman" panose="02020603050405020304" pitchFamily="18" charset="0"/>
                      </a:rPr>
                      <m:t>+0.3 </m:t>
                    </m:r>
                    <m:sSup>
                      <m:sSupPr>
                        <m:ctrlPr>
                          <a:rPr lang="en-US" sz="1200" i="1">
                            <a:latin typeface="Cambria Math" panose="02040503050406030204" pitchFamily="18" charset="0"/>
                            <a:cs typeface="Times New Roman" panose="02020603050405020304" pitchFamily="18" charset="0"/>
                          </a:rPr>
                        </m:ctrlPr>
                      </m:sSupPr>
                      <m:e>
                        <m:r>
                          <a:rPr lang="en-US" sz="1200" i="1">
                            <a:latin typeface="Cambria Math" panose="02040503050406030204" pitchFamily="18" charset="0"/>
                            <a:cs typeface="Times New Roman" panose="02020603050405020304" pitchFamily="18" charset="0"/>
                          </a:rPr>
                          <m:t>𝐶𝑜𝑛𝑡𝑟𝑎𝑐𝑡</m:t>
                        </m:r>
                        <m:r>
                          <a:rPr lang="en-US" sz="1200" i="1">
                            <a:latin typeface="Cambria Math" panose="02040503050406030204" pitchFamily="18" charset="0"/>
                            <a:cs typeface="Times New Roman" panose="02020603050405020304" pitchFamily="18" charset="0"/>
                          </a:rPr>
                          <m:t> </m:t>
                        </m:r>
                        <m:r>
                          <a:rPr lang="en-US" sz="1200" i="1">
                            <a:latin typeface="Cambria Math" panose="02040503050406030204" pitchFamily="18" charset="0"/>
                            <a:cs typeface="Times New Roman" panose="02020603050405020304" pitchFamily="18" charset="0"/>
                          </a:rPr>
                          <m:t>𝑌𝑒𝑎𝑟𝑠</m:t>
                        </m:r>
                      </m:e>
                      <m:sup>
                        <m:r>
                          <a:rPr lang="en-US" sz="1200" i="1">
                            <a:latin typeface="Cambria Math" panose="02040503050406030204" pitchFamily="18" charset="0"/>
                            <a:cs typeface="Times New Roman" panose="02020603050405020304" pitchFamily="18" charset="0"/>
                          </a:rPr>
                          <m:t>2</m:t>
                        </m:r>
                      </m:sup>
                    </m:sSup>
                    <m:r>
                      <a:rPr lang="en-US" sz="1200" b="0" i="1" smtClean="0">
                        <a:latin typeface="Cambria Math" panose="02040503050406030204" pitchFamily="18" charset="0"/>
                        <a:cs typeface="Times New Roman" panose="02020603050405020304" pitchFamily="18" charset="0"/>
                      </a:rPr>
                      <m:t>)</m:t>
                    </m:r>
                  </m:oMath>
                </a14:m>
                <a:endParaRPr lang="en-US" sz="1200" dirty="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FE792117-4496-2A6A-194E-75403596F222}"/>
                  </a:ext>
                </a:extLst>
              </p:cNvPr>
              <p:cNvSpPr txBox="1">
                <a:spLocks noRot="1" noChangeAspect="1" noMove="1" noResize="1" noEditPoints="1" noAdjustHandles="1" noChangeArrowheads="1" noChangeShapeType="1" noTextEdit="1"/>
              </p:cNvSpPr>
              <p:nvPr/>
            </p:nvSpPr>
            <p:spPr>
              <a:xfrm>
                <a:off x="457200" y="6416547"/>
                <a:ext cx="11194331" cy="386773"/>
              </a:xfrm>
              <a:prstGeom prst="rect">
                <a:avLst/>
              </a:prstGeom>
              <a:blipFill>
                <a:blip r:embed="rId3"/>
                <a:stretch>
                  <a:fillRect b="-1587"/>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563900D5-370D-6003-5292-9DB8E5694DE3}"/>
              </a:ext>
            </a:extLst>
          </p:cNvPr>
          <p:cNvSpPr txBox="1"/>
          <p:nvPr/>
        </p:nvSpPr>
        <p:spPr>
          <a:xfrm>
            <a:off x="914400" y="4059959"/>
            <a:ext cx="9488032" cy="2277547"/>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High percentage indicates the club has strong authority over a player's future, The player cannot leave easily.</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Real Madrid has slightly stronger control over players.</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Barcelona has almost well-balanced player control.</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Juventus has fair control over their prime-age players.</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Arsenal lowest control over its players.</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Liverpool giving normal control for early-career players who haven’t fully proven themselves yet.</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All five clubs except Liverpool treat 1-3 players as key assets with high-control contracts.</a:t>
            </a:r>
          </a:p>
        </p:txBody>
      </p:sp>
    </p:spTree>
    <p:extLst>
      <p:ext uri="{BB962C8B-B14F-4D97-AF65-F5344CB8AC3E}">
        <p14:creationId xmlns:p14="http://schemas.microsoft.com/office/powerpoint/2010/main" val="376582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0C6407-FB3C-429C-B8A9-D3C3746EFE22}"/>
              </a:ext>
            </a:extLst>
          </p:cNvPr>
          <p:cNvSpPr txBox="1"/>
          <p:nvPr/>
        </p:nvSpPr>
        <p:spPr>
          <a:xfrm>
            <a:off x="457200" y="365760"/>
            <a:ext cx="8880763"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Conclusion: Top Elite Clubs Strategy</a:t>
            </a:r>
          </a:p>
        </p:txBody>
      </p:sp>
      <p:sp>
        <p:nvSpPr>
          <p:cNvPr id="5" name="TextBox 4">
            <a:extLst>
              <a:ext uri="{FF2B5EF4-FFF2-40B4-BE49-F238E27FC236}">
                <a16:creationId xmlns:a16="http://schemas.microsoft.com/office/drawing/2014/main" id="{4872E5D1-40F5-E698-75C9-1640CE9B7823}"/>
              </a:ext>
            </a:extLst>
          </p:cNvPr>
          <p:cNvSpPr txBox="1"/>
          <p:nvPr/>
        </p:nvSpPr>
        <p:spPr>
          <a:xfrm>
            <a:off x="691905" y="945567"/>
            <a:ext cx="7791192" cy="3108543"/>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Every club employs a distinct strategy that defines its identity, paving the way for its rise among the world’s top teams.</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Real Madrid, and Barcelona strike a balance between early-career and prime-age players with strong potential, rewarding them with high wages while maintaining tight control through their contracts.</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Juventus concentrates on prime-age players with high potential, ensuring fair treatment such that average pay and standard contract terms.</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Arsenal seeks players with solid potential and modest value, offering low wages with minimal contract control.</a:t>
            </a:r>
          </a:p>
          <a:p>
            <a:pPr marL="285750" indent="-285750">
              <a:spcBef>
                <a:spcPts val="600"/>
              </a:spcBef>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Liverpool primarily invests in early-career players with high potential, providing low wages and flexible contract restrictions.</a:t>
            </a:r>
          </a:p>
        </p:txBody>
      </p:sp>
    </p:spTree>
    <p:extLst>
      <p:ext uri="{BB962C8B-B14F-4D97-AF65-F5344CB8AC3E}">
        <p14:creationId xmlns:p14="http://schemas.microsoft.com/office/powerpoint/2010/main" val="1729443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CBEBA-D383-193D-A9F1-F98669EE700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F0BBA7-2C88-894C-E106-23E644AA392E}"/>
              </a:ext>
            </a:extLst>
          </p:cNvPr>
          <p:cNvSpPr txBox="1"/>
          <p:nvPr/>
        </p:nvSpPr>
        <p:spPr>
          <a:xfrm>
            <a:off x="457200" y="365760"/>
            <a:ext cx="8880763"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Further Reading</a:t>
            </a:r>
          </a:p>
        </p:txBody>
      </p:sp>
      <p:sp>
        <p:nvSpPr>
          <p:cNvPr id="5" name="TextBox 4">
            <a:extLst>
              <a:ext uri="{FF2B5EF4-FFF2-40B4-BE49-F238E27FC236}">
                <a16:creationId xmlns:a16="http://schemas.microsoft.com/office/drawing/2014/main" id="{C8326120-C89C-C255-5D65-1882CD9661D4}"/>
              </a:ext>
            </a:extLst>
          </p:cNvPr>
          <p:cNvSpPr txBox="1"/>
          <p:nvPr/>
        </p:nvSpPr>
        <p:spPr>
          <a:xfrm>
            <a:off x="691905" y="945567"/>
            <a:ext cx="7791192" cy="1077218"/>
          </a:xfrm>
          <a:prstGeom prst="rect">
            <a:avLst/>
          </a:prstGeom>
          <a:noFill/>
        </p:spPr>
        <p:txBody>
          <a:bodyPr wrap="square" rtlCol="0">
            <a:spAutoFit/>
          </a:bodyPr>
          <a:lstStyle/>
          <a:p>
            <a:pPr>
              <a:spcBef>
                <a:spcPts val="600"/>
              </a:spcBef>
            </a:pPr>
            <a:r>
              <a:rPr lang="en-US" sz="1600" dirty="0">
                <a:latin typeface="Times New Roman" panose="02020603050405020304" pitchFamily="18" charset="0"/>
                <a:cs typeface="Times New Roman" panose="02020603050405020304" pitchFamily="18" charset="0"/>
              </a:rPr>
              <a:t>The method for evaluating wage fairness isn’t fully accurate, but it reveals insights that player values and wages alone can’t show. Similarly, the contract control method aims to uncover details that player value, contract release clauses, and contract lengths don’t fully capture.</a:t>
            </a:r>
          </a:p>
        </p:txBody>
      </p:sp>
    </p:spTree>
    <p:extLst>
      <p:ext uri="{BB962C8B-B14F-4D97-AF65-F5344CB8AC3E}">
        <p14:creationId xmlns:p14="http://schemas.microsoft.com/office/powerpoint/2010/main" val="3038073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TM02836342[[fn=Ion]]</Template>
  <TotalTime>2852</TotalTime>
  <Words>863</Words>
  <Application>Microsoft Office PowerPoint</Application>
  <PresentationFormat>Widescreen</PresentationFormat>
  <Paragraphs>58</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Arial</vt:lpstr>
      <vt:lpstr>Cambria Math</vt:lpstr>
      <vt:lpstr>Century Gothic</vt:lpstr>
      <vt:lpstr>Times New Roman</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Elgamal</dc:creator>
  <cp:lastModifiedBy>Ali Elgamal</cp:lastModifiedBy>
  <cp:revision>23</cp:revision>
  <dcterms:created xsi:type="dcterms:W3CDTF">2025-05-01T15:59:00Z</dcterms:created>
  <dcterms:modified xsi:type="dcterms:W3CDTF">2025-05-03T22:00:02Z</dcterms:modified>
</cp:coreProperties>
</file>